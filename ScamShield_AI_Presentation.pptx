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OPENING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728655" cy="512064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ourier New"/>
              </a:defRPr>
            </a:pPr>
            <a:r>
              <a:t>NEXT-GENERATION CONSUMER THREAT INTERCEPTION</a:t>
            </a:r>
          </a:p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SCAMSHIELD AI</a:t>
            </a:r>
          </a:p>
          <a:p>
            <a:pPr>
              <a:defRPr sz="2200" b="1">
                <a:solidFill>
                  <a:srgbClr val="00F2FE"/>
                </a:solidFill>
                <a:latin typeface="Helvetica Neue"/>
              </a:defRPr>
            </a:pPr>
            <a:r>
              <a:t>AI-Powered Scam Detection &amp;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i="1">
                <a:solidFill>
                  <a:srgbClr val="CBD5E1"/>
                </a:solidFill>
                <a:latin typeface="Helvetica Neue"/>
              </a:defRPr>
            </a:pPr>
            <a:r>
              <a:t>“Identify risk. Understand why. Act safely.”</a:t>
            </a:r>
          </a:p>
          <a:p>
            <a:pPr>
              <a:defRPr sz="1300">
                <a:solidFill>
                  <a:srgbClr val="64748B"/>
                </a:solidFill>
                <a:latin typeface="Helvetica Neue"/>
              </a:defRPr>
            </a:pPr>
            <a:r>
              <a:t>A zero-harm verification engine that inspects suspicious messages, extracted URLs, and screenshots before users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46320"/>
            <a:ext cx="2331720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AI + CYBERSECURITY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4846320"/>
            <a:ext cx="2331720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0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F2FE"/>
                </a:solidFill>
                <a:latin typeface="Courier New"/>
              </a:defRPr>
            </a:pPr>
            <a:r>
              <a:t>FORGEHACKS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2331720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846320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CBD5E1"/>
                </a:solidFill>
                <a:latin typeface="Courier New"/>
              </a:defRPr>
            </a:pPr>
            <a:r>
              <a:t>GEMINI 2.5 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846320"/>
            <a:ext cx="2331720" cy="59436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4846320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urier New"/>
              </a:defRPr>
            </a:pPr>
            <a:r>
              <a:t>51/51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THE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The Social Engineering Epidemic</a:t>
            </a:r>
          </a:p>
          <a:p>
            <a:pPr>
              <a:defRPr sz="1400">
                <a:solidFill>
                  <a:srgbClr val="64748B"/>
                </a:solidFill>
                <a:latin typeface="Helvetica Neue"/>
              </a:defRPr>
            </a:pPr>
            <a:r>
              <a:t>Attackers exploit psychological urgency across channels where legacy filters are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1460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urier New"/>
              </a:defRPr>
            </a:pPr>
            <a:r>
              <a:t>🚨 URGENCY &amp; PANIC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PHISHING</a:t>
            </a:r>
          </a:p>
          <a:p>
            <a:pPr>
              <a:defRPr sz="1200">
                <a:solidFill>
                  <a:srgbClr val="CBD5E1"/>
                </a:solidFill>
                <a:latin typeface="Helvetica Neue"/>
              </a:defRPr>
            </a:pPr>
            <a:r>
              <a:t>Fake KYC alerts, account freeze deadlines, and false security warnings engineered to trigger immediate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91640"/>
            <a:ext cx="251460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874519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🎭 FALSE AUTHORITY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IMPERSONATION</a:t>
            </a:r>
          </a:p>
          <a:p>
            <a:pPr>
              <a:defRPr sz="1200">
                <a:solidFill>
                  <a:srgbClr val="CBD5E1"/>
                </a:solidFill>
                <a:latin typeface="Helvetica Neue"/>
              </a:defRPr>
            </a:pPr>
            <a:r>
              <a:t>Spoofed bank notices, courier package holds, and government agency identities designed to steal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251460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74519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🎣 WEAPONIZED URLS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MALICIOUS LINKS</a:t>
            </a:r>
          </a:p>
          <a:p>
            <a:pPr>
              <a:defRPr sz="1200">
                <a:solidFill>
                  <a:srgbClr val="CBD5E1"/>
                </a:solidFill>
                <a:latin typeface="Helvetica Neue"/>
              </a:defRPr>
            </a:pPr>
            <a:r>
              <a:t>Raw IP hosts, misleading subdomains, userinfo @ spoofing, and high-abuse TLDs (.xyz, .top) hiding destinations.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91640"/>
            <a:ext cx="2514600" cy="2926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1874519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Courier New"/>
              </a:defRPr>
            </a:pPr>
            <a:r>
              <a:t>📸 THE BLIND SPOT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SCAM SCREENSHOTS</a:t>
            </a:r>
          </a:p>
          <a:p>
            <a:pPr>
              <a:defRPr sz="1200">
                <a:solidFill>
                  <a:srgbClr val="CBD5E1"/>
                </a:solidFill>
                <a:latin typeface="Helvetica Neue"/>
              </a:defRPr>
            </a:pPr>
            <a:r>
              <a:t>Suspicious messages forwarded as screenshot images across chat apps where standard text filters cannot 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Helvetica Neue"/>
              </a:defRPr>
            </a:pPr>
            <a:r>
              <a:t>“Is this safe to interact with?”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Helvetica Neue"/>
              </a:defRPr>
            </a:pPr>
            <a:r>
              <a:t>Everyday users have no safe sandbox to verify suspicious messages. Testing a link by clicking it is dangerous, and existing filters provide zero explanation.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End-to-End Threat Interception Pipeline</a:t>
            </a:r>
          </a:p>
          <a:p>
            <a:pPr>
              <a:defRPr sz="1400">
                <a:solidFill>
                  <a:srgbClr val="64748B"/>
                </a:solidFill>
                <a:latin typeface="Helvetica Neue"/>
              </a:defRPr>
            </a:pPr>
            <a:r>
              <a:t>Multimodal ingestion couples neural contextual evaluation with deterministic zero-network URL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  <a:latin typeface="Courier New"/>
              </a:defRPr>
            </a:pPr>
            <a:r>
              <a:t>01. INGESTION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Message or</a:t>
            </a:r>
            <a:br/>
            <a:r>
              <a:t>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7518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8958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00F2FE"/>
                </a:solidFill>
                <a:latin typeface="Courier New"/>
              </a:defRPr>
            </a:pPr>
            <a:r>
              <a:t>02. OCR EXTRACT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Gemini Vision</a:t>
            </a:r>
            <a:br/>
            <a:r>
              <a:t>In-Memory 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3516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4956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ourier New"/>
              </a:defRPr>
            </a:pPr>
            <a:r>
              <a:t>03. SCAMSHIELD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Detection</a:t>
            </a:r>
            <a:br/>
            <a:r>
              <a:t>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9514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0954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  <a:latin typeface="Courier New"/>
              </a:defRPr>
            </a:pPr>
            <a:r>
              <a:t>04. URL INSPECT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Static Lexical</a:t>
            </a:r>
            <a:br/>
            <a:r>
              <a:t>Zero-Network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5512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6952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Courier New"/>
              </a:defRPr>
            </a:pPr>
            <a:r>
              <a:t>05. ASSESSMENT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Calibrated</a:t>
            </a:r>
            <a:br/>
            <a:r>
              <a:t>Risk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1510" y="1737360"/>
            <a:ext cx="1645920" cy="146304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2950" y="1874519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Courier New"/>
              </a:defRPr>
            </a:pPr>
            <a:r>
              <a:t>06. ACTIONS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Prescriptive</a:t>
            </a:r>
            <a:br/>
            <a:r>
              <a:t>Safe Guidance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10728655" cy="7315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F2FE"/>
                </a:solidFill>
                <a:latin typeface="Courier New"/>
              </a:defRPr>
            </a:pPr>
            <a:r>
              <a:t>🔒 ZERO-HARM SECURITY PRINCIPLE:  “Suspicious URLs are analyzed without visiting them.”</a:t>
            </a:r>
          </a:p>
          <a:p>
            <a:pPr>
              <a:defRPr sz="1150">
                <a:solidFill>
                  <a:srgbClr val="CBD5E1"/>
                </a:solidFill>
                <a:latin typeface="Helvetica Neue"/>
              </a:defRPr>
            </a:pPr>
            <a:r>
              <a:t>No outbound network requests • Defanged previews (hxxp:// and [.]) • Zero threat detonation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2514600" cy="182880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RISK SCORE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Helvetica Neue"/>
              </a:defRPr>
            </a:pPr>
            <a:r>
              <a:t>0 to 100 Threat Index with clear High / Suspicious / Low visual tiering.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4343400"/>
            <a:ext cx="2514600" cy="182880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8456" y="448056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THREAT INDICATORS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Helvetica Neue"/>
              </a:defRPr>
            </a:pPr>
            <a:r>
              <a:t>Specific urgency triggers, lexical anomalies, and authority spoofing cues.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343400"/>
            <a:ext cx="2514600" cy="182880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48056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EXPLANATION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Helvetica Neue"/>
              </a:defRPr>
            </a:pPr>
            <a:r>
              <a:t>Plain-language root cause answering “Why is this message suspicious?”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4343400"/>
            <a:ext cx="2514600" cy="182880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4480560"/>
            <a:ext cx="2148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SAFE ACTIONS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Helvetica Neue"/>
              </a:defRPr>
            </a:pPr>
            <a:r>
              <a:t>Concrete, prescriptive next steps—what to avoid and how to verify.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Layered Architecture &amp; Defense-in-Depth</a:t>
            </a:r>
          </a:p>
          <a:p>
            <a:pPr>
              <a:defRPr sz="1400">
                <a:solidFill>
                  <a:srgbClr val="64748B"/>
                </a:solidFill>
                <a:latin typeface="Helvetica Neue"/>
              </a:defRPr>
            </a:pPr>
            <a:r>
              <a:t>Distinguishing generative contextual intelligence from deterministic security safeguards.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132320" cy="77724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6766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INPUT LAYER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Helvetica Neue"/>
              </a:defRPr>
            </a:pPr>
            <a:r>
              <a:t>Text Message (SMS, Chat, Email)  +  Screenshot Ingestion (Dropzone / Cmd+V Paste)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15184"/>
            <a:ext cx="7132320" cy="77724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6766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Courier New"/>
              </a:defRPr>
            </a:pPr>
            <a:r>
              <a:t>INTELLIGENCE LAYER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Helvetica Neue"/>
              </a:defRPr>
            </a:pPr>
            <a:r>
              <a:t>Gemini 2.5 Flash (Contextual Deception)  +  Gemini Vision (In-Memory OCR)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7132320" cy="77724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6766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urier New"/>
              </a:defRPr>
            </a:pPr>
            <a:r>
              <a:t>SECURITY ANALYSIS LAYER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Helvetica Neue"/>
              </a:defRPr>
            </a:pPr>
            <a:r>
              <a:t>RuleBasedAnalyzer (Keyword Heuristics)  +  Static URL Analyzer (Zero-Network)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62272"/>
            <a:ext cx="7132320" cy="77724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6766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urier New"/>
              </a:defRPr>
            </a:pPr>
            <a:r>
              <a:t>RESILIENCE LAYER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Helvetica Neue"/>
              </a:defRPr>
            </a:pPr>
            <a:r>
              <a:t>Dual-Tier Fallback (Cloud AI Failure Failover)  +  Local Tesseract OCR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85816"/>
            <a:ext cx="7132320" cy="77724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95544"/>
            <a:ext cx="6766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BD5E1"/>
                </a:solidFill>
                <a:latin typeface="Courier New"/>
              </a:defRPr>
            </a:pPr>
            <a:r>
              <a:t>OUTPUT LAYER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Helvetica Neue"/>
              </a:defRPr>
            </a:pPr>
            <a:r>
              <a:t>Calibrated Risk Score  •  Defanged URLs  •  Recommendations  •  sessionStorage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364992" cy="4480560"/>
          </a:xfrm>
          <a:prstGeom prst="roundRect">
            <a:avLst/>
          </a:prstGeom>
          <a:solidFill>
            <a:srgbClr val="101A30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290779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CORE TECHNOLOGY STACK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Backend Framework: </a:t>
            </a:r>
            <a:r>
              <a:rPr b="1">
                <a:solidFill>
                  <a:srgbClr val="FFFFFF"/>
                </a:solidFill>
              </a:rPr>
              <a:t>Python 3.13 / Flask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Official AI SDK: </a:t>
            </a:r>
            <a:r>
              <a:rPr b="1">
                <a:solidFill>
                  <a:srgbClr val="FFFFFF"/>
                </a:solidFill>
              </a:rPr>
              <a:t>google-genai (v2.28)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Vision &amp; Image Engine: </a:t>
            </a:r>
            <a:r>
              <a:rPr b="1">
                <a:solidFill>
                  <a:srgbClr val="FFFFFF"/>
                </a:solidFill>
              </a:rPr>
              <a:t>Pillow (In-Memory Validation)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Static Security Engine: </a:t>
            </a:r>
            <a:r>
              <a:rPr b="1">
                <a:solidFill>
                  <a:srgbClr val="FFFFFF"/>
                </a:solidFill>
              </a:rPr>
              <a:t>ipaddress, urllib.parse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Client Storage: </a:t>
            </a:r>
            <a:r>
              <a:rPr b="1">
                <a:solidFill>
                  <a:srgbClr val="FFFFFF"/>
                </a:solidFill>
              </a:rPr>
              <a:t>Browser sessionStorage (Max 20)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Helvetica Neue"/>
              </a:defRPr>
            </a:pPr>
            <a:r>
              <a:t>• Automated Tests: </a:t>
            </a:r>
            <a:r>
              <a:rPr b="1">
                <a:solidFill>
                  <a:srgbClr val="FFFFFF"/>
                </a:solidFill>
              </a:rPr>
              <a:t>pytest (51 Tests Passing)</a:t>
            </a:r>
          </a:p>
          <a:p>
            <a:pPr>
              <a:spcBef>
                <a:spcPts val="1400"/>
              </a:spcBef>
              <a:defRPr sz="1050" b="1">
                <a:solidFill>
                  <a:srgbClr val="00F2FE"/>
                </a:solidFill>
                <a:latin typeface="Courier New"/>
              </a:defRPr>
            </a:pPr>
            <a:r>
              <a:t>ENGINEERING DISTINCTIONS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Helvetica Neue"/>
              </a:defRPr>
            </a:pPr>
            <a:r>
              <a:t>• AI Context: Detects persuasive psychology &amp; urgency.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Helvetica Neue"/>
              </a:defRPr>
            </a:pPr>
            <a:r>
              <a:t>• Deterministic Rules: Enforces risk floors (Raw IP ≥ 85).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Helvetica Neue"/>
              </a:defRPr>
            </a:pPr>
            <a:r>
              <a:t>• Zero Storage: Screenshots never touch disk or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LIVE DEMO &amp;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Product Showcase &amp; Differentiation</a:t>
            </a:r>
          </a:p>
          <a:p>
            <a:pPr>
              <a:defRPr sz="1400">
                <a:solidFill>
                  <a:srgbClr val="64748B"/>
                </a:solidFill>
                <a:latin typeface="Helvetica Neue"/>
              </a:defRPr>
            </a:pPr>
            <a:r>
              <a:t>ScamShield identifies risk indicators and provides an actionable risk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64008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Courier New"/>
              </a:defRPr>
            </a:pPr>
            <a:r>
              <a:t>1. Paste SMS  →  2. Analyze  →  3. Upload Screenshot  →  4. Inspect URL  →  5. Get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6217920" cy="3749039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5760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ourier New"/>
              </a:defRPr>
            </a:pPr>
            <a:r>
              <a:t>DEMO SCAN RESULT  •  [ Illustrative Demo Result ]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Helvetica Neue"/>
              </a:defRPr>
            </a:pPr>
            <a:r>
              <a:t>HIGH RISK  —  88 / 100</a:t>
            </a:r>
          </a:p>
          <a:p>
            <a:pPr>
              <a:spcBef>
                <a:spcPts val="600"/>
              </a:spcBef>
              <a:defRPr sz="1100" b="1">
                <a:solidFill>
                  <a:srgbClr val="00F2FE"/>
                </a:solidFill>
                <a:latin typeface="Courier New"/>
              </a:defRPr>
            </a:pPr>
            <a:r>
              <a:t>DEFANGED TARGET:  hxxp://secure-bank-login[.]xyz</a:t>
            </a:r>
          </a:p>
          <a:p>
            <a:pPr>
              <a:spcBef>
                <a:spcPts val="800"/>
              </a:spcBef>
              <a:defRPr sz="1000" b="1">
                <a:solidFill>
                  <a:srgbClr val="CBD5E1"/>
                </a:solidFill>
                <a:latin typeface="Courier New"/>
              </a:defRPr>
            </a:pPr>
            <a:r>
              <a:t>DETECTED THREAT INDICATORS: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Helvetica Neue"/>
              </a:defRPr>
            </a:pPr>
            <a:r>
              <a:t>  ⚠️ Urgent KYC account suspension threat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Helvetica Neue"/>
              </a:defRPr>
            </a:pPr>
            <a:r>
              <a:t>  ⚠️ High-abuse TLD (.xyz) &amp; Unencrypted HTTP scheme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Helvetica Neue"/>
              </a:defRPr>
            </a:pPr>
            <a:r>
              <a:t>  ⚠️ Suspicious credential harvesting path (/login)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Helvetica Neue"/>
              </a:defRPr>
            </a:pPr>
            <a:r>
              <a:t>  ⚠️ Impersonation of trusted banking entity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Helvetica Neue"/>
              </a:defRPr>
            </a:pPr>
            <a:r>
              <a:t>RECOMMENDED ACTION: Do not click link. Contact bank directly via verified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2495" y="1645920"/>
            <a:ext cx="4297680" cy="4526280"/>
          </a:xfrm>
          <a:prstGeom prst="roundRect">
            <a:avLst/>
          </a:prstGeom>
          <a:solidFill>
            <a:srgbClr val="0D1424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840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ourier New"/>
              </a:defRPr>
            </a:pPr>
            <a:r>
              <a:t>WHY SCAMSHIELD AI?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Multimodal Analysis: </a:t>
            </a:r>
            <a:r>
              <a:rPr b="0">
                <a:solidFill>
                  <a:srgbClr val="CBD5E1"/>
                </a:solidFill>
              </a:rPr>
              <a:t>Evaluates raw text, image file uploads, drag &amp; drop, and direct Cmd+V clipboard paste.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AI + Deterministic Fallback: </a:t>
            </a:r>
            <a:r>
              <a:rPr b="0">
                <a:solidFill>
                  <a:srgbClr val="CBD5E1"/>
                </a:solidFill>
              </a:rPr>
              <a:t>Seamless continuity via RuleBasedAnalyzer when API is unavailable or rate limited.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Zero-Network URL Inspection: </a:t>
            </a:r>
            <a:r>
              <a:rPr b="0">
                <a:solidFill>
                  <a:srgbClr val="CBD5E1"/>
                </a:solidFill>
              </a:rPr>
              <a:t>Lexical analysis without visiting submitted URLs; never establishes external connections.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Strict URL Defanging: </a:t>
            </a:r>
            <a:r>
              <a:rPr b="0">
                <a:solidFill>
                  <a:srgbClr val="CBD5E1"/>
                </a:solidFill>
              </a:rPr>
              <a:t>Automatically renders links harmless (hxxp:// and [.]) to eliminate accidental clicks.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Privacy-Conscious History: </a:t>
            </a:r>
            <a:r>
              <a:rPr b="0">
                <a:solidFill>
                  <a:srgbClr val="CBD5E1"/>
                </a:solidFill>
              </a:rPr>
              <a:t>Zero permanent disk storage; scans stored ephemerally in browser sessionStorage.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• 51/51 Tests Passing: </a:t>
            </a:r>
            <a:r>
              <a:rPr b="0">
                <a:solidFill>
                  <a:srgbClr val="CBD5E1"/>
                </a:solidFill>
              </a:rPr>
              <a:t>Production-grade automated pytest coverage across OCR, analyzer, and URL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Helvetica Neue"/>
              </a:defRPr>
            </a:pPr>
            <a:r>
              <a:t>SCAMSHIELD AI</a:t>
            </a:r>
            <a:r>
              <a:rPr sz="1000" b="0">
                <a:solidFill>
                  <a:srgbClr val="64748B"/>
                </a:solidFill>
                <a:latin typeface="Helvetica Neue"/>
              </a:rPr>
              <a:t>  •  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urier New"/>
              </a:defRPr>
            </a:pPr>
            <a:r>
              <a:t>FORGEHACKS 2026  •  AI + CYBERSECURITY TRACK  •  51/51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Impact, Honest Limits &amp; Future Scope</a:t>
            </a:r>
          </a:p>
          <a:p>
            <a:pPr>
              <a:defRPr sz="1400">
                <a:solidFill>
                  <a:srgbClr val="64748B"/>
                </a:solidFill>
                <a:latin typeface="Helvetica Neue"/>
              </a:defRPr>
            </a:pPr>
            <a:r>
              <a:t>Democratizing explainable social engineering defense with an honest engineering foundation.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347472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urier New"/>
              </a:defRPr>
            </a:pPr>
            <a:r>
              <a:t>USER IMPACT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Pre-Click Verification</a:t>
            </a:r>
            <a:br/>
            <a:r>
              <a:rPr sz="1050" b="0">
                <a:solidFill>
                  <a:srgbClr val="CBD5E1"/>
                </a:solidFill>
              </a:rPr>
              <a:t>Helps everyday users spot deceptive attacks before interacting or clicking.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Transparent Reasoning</a:t>
            </a:r>
            <a:br/>
            <a:r>
              <a:rPr sz="1050" b="0">
                <a:solidFill>
                  <a:srgbClr val="CBD5E1"/>
                </a:solidFill>
              </a:rPr>
              <a:t>Replaces opaque blocks with clear, educational explanations of why a message is risky.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Actionable Guidance</a:t>
            </a:r>
            <a:br/>
            <a:r>
              <a:rPr sz="1050" b="0">
                <a:solidFill>
                  <a:srgbClr val="CBD5E1"/>
                </a:solidFill>
              </a:rPr>
              <a:t>Prescribes exact safe countermeasures to protect non-technical families and seniors.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347472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CURRENT LIMITATIONS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No Active Web Crawling</a:t>
            </a:r>
            <a:br/>
            <a:r>
              <a:rPr sz="1050" b="0">
                <a:solidFill>
                  <a:srgbClr val="CBD5E1"/>
                </a:solidFill>
              </a:rPr>
              <a:t>Does not visit live web hosts or run browser sandboxing (intentional safety design).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OCR Resolution Dependent</a:t>
            </a:r>
            <a:br/>
            <a:r>
              <a:rPr sz="1050" b="0">
                <a:solidFill>
                  <a:srgbClr val="CBD5E1"/>
                </a:solidFill>
              </a:rPr>
              <a:t>Transcription fidelity relies on image clarity, lighting, and resolution.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Connectivity Dependent</a:t>
            </a:r>
            <a:br/>
            <a:r>
              <a:rPr sz="1050" b="0">
                <a:solidFill>
                  <a:srgbClr val="CBD5E1"/>
                </a:solidFill>
              </a:rPr>
              <a:t>Live Gemini reasoning requires internet; offline fallback provides rule-based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91640"/>
            <a:ext cx="3429000" cy="3474720"/>
          </a:xfrm>
          <a:prstGeom prst="roundRect">
            <a:avLst/>
          </a:prstGeom>
          <a:solidFill>
            <a:srgbClr val="0D142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ourier New"/>
              </a:defRPr>
            </a:pPr>
            <a:r>
              <a:t>FUTURE ROADMAP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Phase 1: Coverage</a:t>
            </a:r>
            <a:br/>
            <a:r>
              <a:rPr sz="1050" b="0">
                <a:solidFill>
                  <a:srgbClr val="CBD5E1"/>
                </a:solidFill>
              </a:rPr>
              <a:t>Multilingual scam detection templates and enhanced OCR preprocessing for degraded images.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Phase 2: Intelligence</a:t>
            </a:r>
            <a:br/>
            <a:r>
              <a:rPr sz="1050" b="0">
                <a:solidFill>
                  <a:srgbClr val="CBD5E1"/>
                </a:solidFill>
              </a:rPr>
              <a:t>Expanded domain lexical telemetry and on-device small language models for full offline AI.</a:t>
            </a:r>
          </a:p>
          <a:p>
            <a:pPr>
              <a:spcBef>
                <a:spcPts val="1000"/>
              </a:spcBef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• Phase 3: Integration</a:t>
            </a:r>
            <a:br/>
            <a:r>
              <a:rPr sz="1050" b="0">
                <a:solidFill>
                  <a:srgbClr val="CBD5E1"/>
                </a:solidFill>
              </a:rPr>
              <a:t>Security-team dashboard, enterprise API endpoints, and browser extension for real-time triage.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76672"/>
            <a:ext cx="101800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“ScamShield AI doesn't just flag a message.</a:t>
            </a:r>
          </a:p>
          <a:p>
            <a:pPr>
              <a:defRPr sz="1600" b="1">
                <a:solidFill>
                  <a:srgbClr val="00F2FE"/>
                </a:solidFill>
                <a:latin typeface="Helvetica Neue"/>
              </a:defRPr>
            </a:pPr>
            <a:r>
              <a:t>It helps the user understand the risk and decide what to do next.”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